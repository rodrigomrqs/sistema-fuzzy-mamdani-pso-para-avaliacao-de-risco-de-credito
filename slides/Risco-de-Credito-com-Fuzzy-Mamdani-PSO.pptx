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Risco de Crédito com Fuzzy Mamdani + PSO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Apoio à Decisão para Concessão de Crédito — Inteligência Artificial e Computacional (0700M8) · CESUPA 01/2026 · Prof. Daniel Leal Souza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533474"/>
            <a:ext cx="4846737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Problema: Decisão de Crédito é Imprecisa por Natureza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863132" y="1471315"/>
            <a:ext cx="2369121" cy="1454423"/>
          </a:xfrm>
          <a:prstGeom prst="roundRect">
            <a:avLst>
              <a:gd name="adj" fmla="val 358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91868" y="1600051"/>
            <a:ext cx="211164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Limitação da Lógica Clássica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91868" y="2052861"/>
            <a:ext cx="211164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Termos como "renda alta" ou "score bom" são graduais — a lógica booleana não captura essas nuances.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40748" y="1471315"/>
            <a:ext cx="2369121" cy="1454423"/>
          </a:xfrm>
          <a:prstGeom prst="roundRect">
            <a:avLst>
              <a:gd name="adj" fmla="val 358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9484" y="160005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Solução Fuzzy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69484" y="1859012"/>
            <a:ext cx="211164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lógica fuzzy modela gradações com funções de pertinência, representando a realidade do analista.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63132" y="3034233"/>
            <a:ext cx="4846737" cy="888504"/>
          </a:xfrm>
          <a:prstGeom prst="roundRect">
            <a:avLst>
              <a:gd name="adj" fmla="val 58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91868" y="316297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Papel do PSO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91868" y="3421931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 automaticamente os 69 parâmetros das MFs, minimizando o erro sobre cenários de referência.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63132" y="4044776"/>
            <a:ext cx="4846737" cy="443210"/>
          </a:xfrm>
          <a:prstGeom prst="roundRect">
            <a:avLst>
              <a:gd name="adj" fmla="val 11755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105" y="4219798"/>
            <a:ext cx="155004" cy="1239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66084" y="4173364"/>
            <a:ext cx="47770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Público-alvo: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Analistas de crédito, fintechs e cooperativas de crédito.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44320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do Sistema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 Web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275491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Otimização PSO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Motor Fuzzy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fluxo integra quatro etapas: as entradas do usuário alimentam o motor fuzzy, cujos parâmetros são otimizados pelo PSO, e os resultados são apresentados via aplicação web interativa.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56977"/>
            <a:ext cx="592588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Variáveis e Funções de Pertinência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49610" y="1091282"/>
            <a:ext cx="8244780" cy="2863602"/>
          </a:xfrm>
          <a:prstGeom prst="roundRect">
            <a:avLst>
              <a:gd name="adj" fmla="val 188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4372" y="1096045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83034" y="1170608"/>
            <a:ext cx="20096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97100" y="1170608"/>
            <a:ext cx="10190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20566" y="1170608"/>
            <a:ext cx="16778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2894" y="1170608"/>
            <a:ext cx="20072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14579" y="1170608"/>
            <a:ext cx="25038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Termos Linguísticos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4372" y="1441103"/>
            <a:ext cx="8235255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83034" y="1515666"/>
            <a:ext cx="20096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Renda Mensal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97100" y="1515666"/>
            <a:ext cx="10190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20566" y="1515666"/>
            <a:ext cx="16778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 – 20.000] R$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2894" y="1515666"/>
            <a:ext cx="20072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4579" y="1515666"/>
            <a:ext cx="204661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Baixa, Baixa, Média, Alta, Muito Alta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4372" y="1982093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83034" y="2056656"/>
            <a:ext cx="20096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Comprometimento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97100" y="2056656"/>
            <a:ext cx="10190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20566" y="2056656"/>
            <a:ext cx="16778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 – 100] 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2894" y="2056656"/>
            <a:ext cx="20072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4579" y="2056656"/>
            <a:ext cx="25038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Baixo, Moderado, Alto, Muito Alto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4372" y="2327151"/>
            <a:ext cx="8235255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83034" y="2401714"/>
            <a:ext cx="20096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de Crédito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97100" y="2401714"/>
            <a:ext cx="10190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20566" y="2401714"/>
            <a:ext cx="16778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 – 1.000] pts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2894" y="2401714"/>
            <a:ext cx="20072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4579" y="2401714"/>
            <a:ext cx="204661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Ruim, Ruim, Regular, Bom, Muito Bom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4372" y="2868141"/>
            <a:ext cx="8235255" cy="5409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83034" y="2942704"/>
            <a:ext cx="20096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no Emprego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97100" y="2942704"/>
            <a:ext cx="10190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20566" y="2942704"/>
            <a:ext cx="16778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 – 30] anos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2894" y="2942704"/>
            <a:ext cx="20072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4579" y="2942704"/>
            <a:ext cx="204661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Curto, Moderado, Longo, Muito Longo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4372" y="3409131"/>
            <a:ext cx="8235255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83034" y="3483694"/>
            <a:ext cx="20096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de Crédito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97100" y="3483694"/>
            <a:ext cx="101902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20566" y="3483694"/>
            <a:ext cx="16778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 – 100]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2894" y="3483694"/>
            <a:ext cx="20072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14579" y="3483694"/>
            <a:ext cx="204661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Baixo, Baixo, Médio, Alto, Muito Alto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9610" y="4085853"/>
            <a:ext cx="8244780" cy="469627"/>
          </a:xfrm>
          <a:prstGeom prst="roundRect">
            <a:avLst>
              <a:gd name="adj" fmla="val 11490"/>
            </a:avLst>
          </a:prstGeom>
          <a:solidFill>
            <a:srgbClr val="C7C9EA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48" y="4267274"/>
            <a:ext cx="160586" cy="128439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7073" y="4222700"/>
            <a:ext cx="81560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triangular [a, b, c] —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MFs · 69 parâmetros otimizáveis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17526"/>
            <a:ext cx="6432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de Regras Fuzzy — 18 Regras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300660"/>
            <a:ext cx="68770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baseadas em conhecimento de domínio financeiro.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e comprometimento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são os principais preditores; renda e tempo de emprego atuam como fatores mitigantes ou agravantes.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913757"/>
            <a:ext cx="6877050" cy="552748"/>
          </a:xfrm>
          <a:prstGeom prst="roundRect">
            <a:avLst>
              <a:gd name="adj" fmla="val 10772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128814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3076724"/>
            <a:ext cx="67317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🟢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Baixo risco ·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🟡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Médio ·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Alto risco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3808" y="2786137"/>
            <a:ext cx="13859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17909"/>
            <a:ext cx="745204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Motor PSO — Integração Fuzzy-Evolutiva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97397"/>
            <a:ext cx="252687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 de Otimização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88379" y="1552798"/>
            <a:ext cx="3913436" cy="12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 variáveis de decisão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parâmetros reais das 23 MFs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 de aptidão: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MAE sobre 10 cenários de referência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Restrições: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≤ b ≤ c dentro dos limites do universo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8379" y="2930054"/>
            <a:ext cx="3913436" cy="484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79" y="2930054"/>
            <a:ext cx="3913436" cy="4844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46947" y="1197397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Parâmetros do PSO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46947" y="1569913"/>
            <a:ext cx="3913436" cy="3001119"/>
          </a:xfrm>
          <a:prstGeom prst="roundRect">
            <a:avLst>
              <a:gd name="adj" fmla="val 195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1710" y="1574676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891311" y="1661815"/>
            <a:ext cx="25180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Parâmetro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36023" y="1661815"/>
            <a:ext cx="17372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1710" y="1970410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891311" y="2057549"/>
            <a:ext cx="25180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Partículas (n)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236023" y="2057549"/>
            <a:ext cx="17372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1710" y="2366144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891311" y="2453283"/>
            <a:ext cx="25180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Iterações máx.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236023" y="2453283"/>
            <a:ext cx="17372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1710" y="2761878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891311" y="2849017"/>
            <a:ext cx="25180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Inércia (w)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236023" y="2849017"/>
            <a:ext cx="17372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0,7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51710" y="3157612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891311" y="3244751"/>
            <a:ext cx="25180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Cognitiva / Social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236023" y="3244751"/>
            <a:ext cx="17372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 / 1,5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51710" y="3553346"/>
            <a:ext cx="3903911" cy="6171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891311" y="3640485"/>
            <a:ext cx="25180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Execuções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236023" y="3640485"/>
            <a:ext cx="128007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(seeds: 0,7,13,21,42)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51710" y="4170536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891311" y="4257675"/>
            <a:ext cx="25180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Avaliações/run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236023" y="4257675"/>
            <a:ext cx="17372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6.040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29357"/>
            <a:ext cx="471323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Cenários de Teste e Validação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903759" y="821085"/>
            <a:ext cx="7336408" cy="3993059"/>
          </a:xfrm>
          <a:prstGeom prst="roundRect">
            <a:avLst>
              <a:gd name="adj" fmla="val 11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521" y="825847"/>
            <a:ext cx="7326883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5008" y="878384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56953" y="878384"/>
            <a:ext cx="18517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Descrição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68836" y="878384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21262" y="878384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3942" y="878384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59847" y="878384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92528" y="878384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Esperado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08521" y="1079748"/>
            <a:ext cx="7326883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5008" y="1132284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56953" y="1132284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Excelente: renda alta, score ótimo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68836" y="1132284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21262" y="1132284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3942" y="1132284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9847" y="1132284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92528" y="1132284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8521" y="1482477"/>
            <a:ext cx="7326883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5008" y="1535013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56953" y="1535013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Péssimo: renda baixa, score ruim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68836" y="1535013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21262" y="1535013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3942" y="1535013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9847" y="1535013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92528" y="1535013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93,0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8521" y="1885206"/>
            <a:ext cx="7326883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5008" y="1937742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56953" y="1937742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Típico: renda e score médios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68836" y="1937742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1262" y="1937742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3942" y="1937742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59847" y="1937742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92528" y="1937742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50,0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08521" y="2287935"/>
            <a:ext cx="7326883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15008" y="2340471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456953" y="2340471"/>
            <a:ext cx="18517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Fronteiriço baixo-médio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68836" y="2340471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9.000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1262" y="2340471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3942" y="2340471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59847" y="2340471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92528" y="2340471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35,0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08521" y="2541836"/>
            <a:ext cx="7326883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15008" y="2594372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56953" y="2594372"/>
            <a:ext cx="18517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Fronteiriço médio-alto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68836" y="2594372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21262" y="2594372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3942" y="2594372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59847" y="2594372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92528" y="2594372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70,0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08521" y="2795736"/>
            <a:ext cx="7326883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15008" y="2848273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456953" y="2848273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Conflitante: renda alta, score ruim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068836" y="2848273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20.000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21262" y="2848273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53942" y="2848273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559847" y="2848273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92528" y="2848273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55,0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08521" y="3198465"/>
            <a:ext cx="7326883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15008" y="3251002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456953" y="3251002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Conflitante: renda baixa, score bom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068836" y="3251002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1.500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021262" y="3251002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53942" y="3251002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559847" y="3251002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292528" y="3251002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25,0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08521" y="3601194"/>
            <a:ext cx="7326883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15008" y="3653730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456953" y="3653730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 baixo: todos favoráveis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068836" y="3653730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20.000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021262" y="3653730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753942" y="3653730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559847" y="3653730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292528" y="3653730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08521" y="4003923"/>
            <a:ext cx="7326883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015008" y="4056459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456953" y="4056459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Crítico alto: todos desfavoráveis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068836" y="4056459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21262" y="4056459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753942" y="4056459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559847" y="4056459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292528" y="4056459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93,0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08521" y="4406652"/>
            <a:ext cx="7326883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015008" y="4459188"/>
            <a:ext cx="6818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456953" y="4459188"/>
            <a:ext cx="13945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Mitigado: tempo longo compensa score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068836" y="4459188"/>
            <a:ext cx="11923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7.000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021262" y="4459188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753942" y="4459188"/>
            <a:ext cx="1045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480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559847" y="4459188"/>
            <a:ext cx="9725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92528" y="4459188"/>
            <a:ext cx="22938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28,0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94915"/>
            <a:ext cx="5273204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Resultados da Otimização PSO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93440"/>
            <a:ext cx="4049613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5,36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671414" y="16688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MAE Padrão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9610" y="1939379"/>
            <a:ext cx="40496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sem otimização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093440"/>
            <a:ext cx="4049688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~0,51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866581" y="16688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MAE PSO (média)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39379"/>
            <a:ext cx="4049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das 5 execuções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9610" y="2432372"/>
            <a:ext cx="4049613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~0,20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71414" y="300781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Melhor MAE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9610" y="3278312"/>
            <a:ext cx="40496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execução individual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432372"/>
            <a:ext cx="4049688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−96,3%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866581" y="300781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Redução Máxima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278312"/>
            <a:ext cx="4049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 no erro com PSO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610" y="3721596"/>
            <a:ext cx="228838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PSO vs Busca Aleatória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9610" y="4038674"/>
            <a:ext cx="396567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orçamento: 6.040 avaliações. Busca aleatória: MAE ~5,36 — sem aprendizado nem memória de busca.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3479" y="372159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PSO?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33479" y="4038674"/>
            <a:ext cx="3965674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contínuo de 69D com restrições de ordenação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operadores genéticos complexos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Convergência suave e estruturada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395957"/>
            <a:ext cx="4506292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Aplicação Web Streamlit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1901" y="1011436"/>
            <a:ext cx="4769197" cy="12299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87490" y="1499741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4590157" y="1165547"/>
            <a:ext cx="223919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Aba 1 — Avaliação de Risco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90157" y="1453902"/>
            <a:ext cx="392683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Sliders com feedback em tempo real, gauge colorido [0–100], recomendação automática (Aprovar / Analisar / Recusar), painel de regras ativadas e gráfico de MFs ativas.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1901" y="2370088"/>
            <a:ext cx="4769197" cy="12299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87490" y="2858393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590157" y="2524199"/>
            <a:ext cx="28734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Aba 2 — Resultados Experimentais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90157" y="2812554"/>
            <a:ext cx="392683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do PSO, tabela de cenários, curvas de convergência e comparação das MFs antes e depois da otimização.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1901" y="3728740"/>
            <a:ext cx="4769197" cy="10188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87490" y="4111451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4590157" y="3882851"/>
            <a:ext cx="176138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Aba 3 — Metodologia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90157" y="4171206"/>
            <a:ext cx="39268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de variáveis, parâmetros do PSO, base de regras colorida e equações do algoritmo.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6013"/>
            <a:ext cx="77063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Conclusão, Limitações e Próximos Passos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33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Entregas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0657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Fuzzy Mamdani: 4 entradas, 18 regras, centroide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PSO em 69D: redução de 90,5% no MAE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Streamlit interativo e documentado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2789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Limitações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291111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Parâmetros PSO empíricos — sem análise de sensibilidade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dados reais de inadimplência para validação externa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1661071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C7C9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1876127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182403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· scikit-fuzzy · NumPy · Streamlit · Matplotlib · Pandas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49701" y="260010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2026-06-10T22:51:57Z</dcterms:created>
  <dcterms:modified xsi:type="dcterms:W3CDTF">2026-06-10T22:51:57Z</dcterms:modified>
</cp:coreProperties>
</file>